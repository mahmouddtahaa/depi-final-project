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D32"/>
    <a:srgbClr val="0A1628"/>
    <a:srgbClr val="00B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378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64008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ChatBoot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1874520"/>
            <a:ext cx="46172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 Retrieval-Augmented Generation (RAG) Chatbot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2468880"/>
            <a:ext cx="5486400" cy="274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MS ML Engineer Track Final Project</a:t>
            </a:r>
            <a:endParaRPr lang="en-US" sz="14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D13D6EF-0718-AB47-3E48-5A606534603E}"/>
              </a:ext>
            </a:extLst>
          </p:cNvPr>
          <p:cNvGrpSpPr/>
          <p:nvPr/>
        </p:nvGrpSpPr>
        <p:grpSpPr>
          <a:xfrm>
            <a:off x="766020" y="3749040"/>
            <a:ext cx="1828800" cy="274320"/>
            <a:chOff x="457200" y="4480560"/>
            <a:chExt cx="1828800" cy="274320"/>
          </a:xfrm>
        </p:grpSpPr>
        <p:sp>
          <p:nvSpPr>
            <p:cNvPr id="8" name="Shape 5"/>
            <p:cNvSpPr/>
            <p:nvPr/>
          </p:nvSpPr>
          <p:spPr>
            <a:xfrm>
              <a:off x="457200" y="4480560"/>
              <a:ext cx="1828800" cy="274320"/>
            </a:xfrm>
            <a:prstGeom prst="rect">
              <a:avLst/>
            </a:prstGeom>
            <a:solidFill>
              <a:srgbClr val="1565C0"/>
            </a:solidFill>
            <a:ln w="12700">
              <a:solidFill>
                <a:srgbClr val="1565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457200" y="448056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Mahmoud Taha</a:t>
              </a:r>
              <a:endParaRPr lang="en-US" sz="10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D322F1-B799-4AA1-5003-4406D99CD494}"/>
              </a:ext>
            </a:extLst>
          </p:cNvPr>
          <p:cNvGrpSpPr/>
          <p:nvPr/>
        </p:nvGrpSpPr>
        <p:grpSpPr>
          <a:xfrm>
            <a:off x="766020" y="4137660"/>
            <a:ext cx="1828800" cy="274320"/>
            <a:chOff x="2468880" y="4480560"/>
            <a:chExt cx="1828800" cy="274320"/>
          </a:xfrm>
        </p:grpSpPr>
        <p:sp>
          <p:nvSpPr>
            <p:cNvPr id="10" name="Shape 7"/>
            <p:cNvSpPr/>
            <p:nvPr/>
          </p:nvSpPr>
          <p:spPr>
            <a:xfrm>
              <a:off x="2468880" y="4480560"/>
              <a:ext cx="1828800" cy="274320"/>
            </a:xfrm>
            <a:prstGeom prst="rect">
              <a:avLst/>
            </a:prstGeom>
            <a:solidFill>
              <a:srgbClr val="1565C0"/>
            </a:solidFill>
            <a:ln w="12700">
              <a:solidFill>
                <a:srgbClr val="1565C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2468880" y="448056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Aya Saleh</a:t>
              </a:r>
              <a:endParaRPr lang="en-US" sz="10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15949F7-D975-2558-08FD-E80F71C9D490}"/>
              </a:ext>
            </a:extLst>
          </p:cNvPr>
          <p:cNvGrpSpPr/>
          <p:nvPr/>
        </p:nvGrpSpPr>
        <p:grpSpPr>
          <a:xfrm>
            <a:off x="766020" y="4521758"/>
            <a:ext cx="1828800" cy="274320"/>
            <a:chOff x="4480560" y="4480560"/>
            <a:chExt cx="1828800" cy="274320"/>
          </a:xfrm>
        </p:grpSpPr>
        <p:sp>
          <p:nvSpPr>
            <p:cNvPr id="12" name="Shape 9"/>
            <p:cNvSpPr/>
            <p:nvPr/>
          </p:nvSpPr>
          <p:spPr>
            <a:xfrm>
              <a:off x="4480560" y="4480560"/>
              <a:ext cx="1828800" cy="274320"/>
            </a:xfrm>
            <a:prstGeom prst="rect">
              <a:avLst/>
            </a:prstGeom>
            <a:solidFill>
              <a:srgbClr val="1565C0"/>
            </a:solidFill>
            <a:ln w="12700">
              <a:solidFill>
                <a:srgbClr val="1565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0"/>
            <p:cNvSpPr/>
            <p:nvPr/>
          </p:nvSpPr>
          <p:spPr>
            <a:xfrm>
              <a:off x="4480560" y="448056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Mohamed Abdel-Monsef</a:t>
              </a:r>
              <a:endParaRPr lang="en-US" sz="10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033C808-A3C9-8340-9484-F1D9C5D54D7C}"/>
              </a:ext>
            </a:extLst>
          </p:cNvPr>
          <p:cNvGrpSpPr/>
          <p:nvPr/>
        </p:nvGrpSpPr>
        <p:grpSpPr>
          <a:xfrm>
            <a:off x="2730641" y="4521758"/>
            <a:ext cx="1828800" cy="274320"/>
            <a:chOff x="6492240" y="4480560"/>
            <a:chExt cx="1828800" cy="274320"/>
          </a:xfrm>
        </p:grpSpPr>
        <p:sp>
          <p:nvSpPr>
            <p:cNvPr id="14" name="Shape 11"/>
            <p:cNvSpPr/>
            <p:nvPr/>
          </p:nvSpPr>
          <p:spPr>
            <a:xfrm>
              <a:off x="6492240" y="4480560"/>
              <a:ext cx="1828800" cy="274320"/>
            </a:xfrm>
            <a:prstGeom prst="rect">
              <a:avLst/>
            </a:prstGeom>
            <a:solidFill>
              <a:srgbClr val="1565C0"/>
            </a:solidFill>
            <a:ln w="12700">
              <a:solidFill>
                <a:srgbClr val="1565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2"/>
            <p:cNvSpPr/>
            <p:nvPr/>
          </p:nvSpPr>
          <p:spPr>
            <a:xfrm>
              <a:off x="6492240" y="448056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Aisha Essam</a:t>
              </a:r>
              <a:endParaRPr lang="en-US" sz="10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5D95C63-06CC-E00B-189C-27C9E685FB10}"/>
              </a:ext>
            </a:extLst>
          </p:cNvPr>
          <p:cNvGrpSpPr/>
          <p:nvPr/>
        </p:nvGrpSpPr>
        <p:grpSpPr>
          <a:xfrm>
            <a:off x="2730641" y="4137660"/>
            <a:ext cx="1828800" cy="274320"/>
            <a:chOff x="6644640" y="3673342"/>
            <a:chExt cx="1828800" cy="274320"/>
          </a:xfrm>
        </p:grpSpPr>
        <p:sp>
          <p:nvSpPr>
            <p:cNvPr id="16" name="Shape 11">
              <a:extLst>
                <a:ext uri="{FF2B5EF4-FFF2-40B4-BE49-F238E27FC236}">
                  <a16:creationId xmlns:a16="http://schemas.microsoft.com/office/drawing/2014/main" id="{04BB7709-7B8E-3E6C-8833-9D171908547A}"/>
                </a:ext>
              </a:extLst>
            </p:cNvPr>
            <p:cNvSpPr/>
            <p:nvPr/>
          </p:nvSpPr>
          <p:spPr>
            <a:xfrm>
              <a:off x="6644640" y="3673342"/>
              <a:ext cx="1828800" cy="274320"/>
            </a:xfrm>
            <a:prstGeom prst="rect">
              <a:avLst/>
            </a:prstGeom>
            <a:solidFill>
              <a:srgbClr val="1565C0"/>
            </a:solidFill>
            <a:ln w="12700">
              <a:solidFill>
                <a:srgbClr val="1565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88F8438D-F697-753B-6E51-28C00BA590D7}"/>
                </a:ext>
              </a:extLst>
            </p:cNvPr>
            <p:cNvSpPr/>
            <p:nvPr/>
          </p:nvSpPr>
          <p:spPr>
            <a:xfrm>
              <a:off x="6644640" y="3673342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Ahmed Kaoud</a:t>
              </a:r>
              <a:endParaRPr lang="en-US" sz="1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00CB36C-AE40-6AEE-13D0-9D442C6841D4}"/>
              </a:ext>
            </a:extLst>
          </p:cNvPr>
          <p:cNvGrpSpPr/>
          <p:nvPr/>
        </p:nvGrpSpPr>
        <p:grpSpPr>
          <a:xfrm>
            <a:off x="2730641" y="3749040"/>
            <a:ext cx="1828800" cy="274320"/>
            <a:chOff x="4160018" y="3611880"/>
            <a:chExt cx="1828800" cy="274320"/>
          </a:xfrm>
        </p:grpSpPr>
        <p:sp>
          <p:nvSpPr>
            <p:cNvPr id="18" name="Shape 11">
              <a:extLst>
                <a:ext uri="{FF2B5EF4-FFF2-40B4-BE49-F238E27FC236}">
                  <a16:creationId xmlns:a16="http://schemas.microsoft.com/office/drawing/2014/main" id="{22E2EBB1-8456-F91A-CF75-F5465422A7E5}"/>
                </a:ext>
              </a:extLst>
            </p:cNvPr>
            <p:cNvSpPr/>
            <p:nvPr/>
          </p:nvSpPr>
          <p:spPr>
            <a:xfrm>
              <a:off x="4160018" y="3611880"/>
              <a:ext cx="1828800" cy="274320"/>
            </a:xfrm>
            <a:prstGeom prst="rect">
              <a:avLst/>
            </a:prstGeom>
            <a:solidFill>
              <a:srgbClr val="1565C0"/>
            </a:solidFill>
            <a:ln w="12700">
              <a:solidFill>
                <a:srgbClr val="1565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B8784B7C-FA07-FD9E-4CDC-B20816B1449A}"/>
                </a:ext>
              </a:extLst>
            </p:cNvPr>
            <p:cNvSpPr/>
            <p:nvPr/>
          </p:nvSpPr>
          <p:spPr>
            <a:xfrm>
              <a:off x="4160018" y="361188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Mohamed Essam</a:t>
              </a:r>
              <a:endParaRPr lang="en-US" sz="10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F0D62DA-C7B2-D0DD-39AF-874ABB590F33}"/>
              </a:ext>
            </a:extLst>
          </p:cNvPr>
          <p:cNvGrpSpPr/>
          <p:nvPr/>
        </p:nvGrpSpPr>
        <p:grpSpPr>
          <a:xfrm>
            <a:off x="766020" y="3331029"/>
            <a:ext cx="3805979" cy="274320"/>
            <a:chOff x="457200" y="4480560"/>
            <a:chExt cx="1828800" cy="274320"/>
          </a:xfrm>
        </p:grpSpPr>
        <p:sp>
          <p:nvSpPr>
            <p:cNvPr id="27" name="Shape 5">
              <a:extLst>
                <a:ext uri="{FF2B5EF4-FFF2-40B4-BE49-F238E27FC236}">
                  <a16:creationId xmlns:a16="http://schemas.microsoft.com/office/drawing/2014/main" id="{88EA8BD2-1C60-1586-5FB5-F107E2BB266C}"/>
                </a:ext>
              </a:extLst>
            </p:cNvPr>
            <p:cNvSpPr/>
            <p:nvPr/>
          </p:nvSpPr>
          <p:spPr>
            <a:xfrm>
              <a:off x="457200" y="4480560"/>
              <a:ext cx="1828800" cy="274320"/>
            </a:xfrm>
            <a:prstGeom prst="rect">
              <a:avLst/>
            </a:prstGeom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Text 6">
              <a:extLst>
                <a:ext uri="{FF2B5EF4-FFF2-40B4-BE49-F238E27FC236}">
                  <a16:creationId xmlns:a16="http://schemas.microsoft.com/office/drawing/2014/main" id="{332E79F5-C51B-91FE-E295-D41757BCF8A5}"/>
                </a:ext>
              </a:extLst>
            </p:cNvPr>
            <p:cNvSpPr/>
            <p:nvPr/>
          </p:nvSpPr>
          <p:spPr>
            <a:xfrm>
              <a:off x="457200" y="448056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A1628"/>
                  </a:solidFill>
                </a:rPr>
                <a:t>Team Members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2800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61872" y="1170432"/>
            <a:ext cx="768096" cy="7680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1362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768" y="202996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" y="2487168"/>
            <a:ext cx="24323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drown in unstructured data — PDFs, CSVs, JSON, images — with no unified way to query it intelligently.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72968" y="960120"/>
            <a:ext cx="2651760" cy="2800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14800" y="1170432"/>
            <a:ext cx="768096" cy="76809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13624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82696" y="202996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Retrieval Latency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82696" y="2487168"/>
            <a:ext cx="24323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Keyword-only search misses semantically relevant documents; exact-match search forces users to know exact terminology.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25896" y="960119"/>
            <a:ext cx="2651760" cy="280022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967728" y="1170432"/>
            <a:ext cx="768096" cy="76809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136245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35624" y="202996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 Risk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35624" y="2487168"/>
            <a:ext cx="24323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LLMs generate plausible but ungrounded answers without access to domain-specific, up-to-date knowledge.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32638" y="4045163"/>
            <a:ext cx="88787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We need a system that indexes any document corpus and answers natural-language queries accurately, fast, and with cited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Need &amp; Business Value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5603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generated annually goes unstructured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25603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2221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27340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can't find needed info within their tools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520440"/>
            <a:ext cx="25603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35478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11480" y="405993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gain with AI-assisted knowledge retrieval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86868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54680" y="868680"/>
            <a:ext cx="73152" cy="16916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10332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&amp; Research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186207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lecture notes, papers, theses in natural language.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86868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0" y="868680"/>
            <a:ext cx="73152" cy="1691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10332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Docs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1209344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policy manuals, compliance docs, knowledge bases.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278892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54680" y="2788920"/>
            <a:ext cx="73152" cy="16916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37560" y="29535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3161713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cited answers from product documentation &amp; FAQs.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278892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0" y="2788920"/>
            <a:ext cx="73152" cy="16916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0" y="29535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31296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codebases, changelogs, or API references conversationally.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vs Our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57400" y="9144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(Elastic/Solr)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77640" y="914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(Pinecone/Weaviate)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9144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Work)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325880"/>
            <a:ext cx="85039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6855" y="1362456"/>
            <a:ext cx="173736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57400" y="13624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136245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13624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719072"/>
            <a:ext cx="8503920" cy="39319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6855" y="1755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(BM25) Search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57400" y="1755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77640" y="17556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112264"/>
            <a:ext cx="85039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6855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Fusion (RRF)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5740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77640" y="2148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2505456"/>
            <a:ext cx="8503920" cy="39319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6855" y="2542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57400" y="2542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77640" y="25420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2898648"/>
            <a:ext cx="85039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6855" y="29352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Multimodal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057400" y="29352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977640" y="293522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29352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3291840"/>
            <a:ext cx="8503920" cy="39319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6855" y="33284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Query Analysis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057400" y="33284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977640" y="332841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43600" y="33284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" y="3685032"/>
            <a:ext cx="85039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6855" y="3721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Suite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057400" y="37216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977640" y="37216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43600" y="3721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(15+ metrics)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0040" y="4078224"/>
            <a:ext cx="8503920" cy="39319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6855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+ Fallback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05740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977640" y="4114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4360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20040" y="4471416"/>
            <a:ext cx="85039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96855" y="45079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Free Option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057400" y="45079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977640" y="45079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43600" y="4507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(Ollama)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1440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0" y="2057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ChatBoot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28600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adaptable and modular RAG chatbot built in Python + Streamlit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2880360"/>
            <a:ext cx="2606040" cy="914400"/>
          </a:xfrm>
          <a:prstGeom prst="rect">
            <a:avLst/>
          </a:prstGeom>
          <a:solidFill>
            <a:srgbClr val="0D253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8152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7552" y="29718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(Dense + BM25 + RRF)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46120" y="2880360"/>
            <a:ext cx="2606040" cy="914400"/>
          </a:xfrm>
          <a:prstGeom prst="rect">
            <a:avLst/>
          </a:prstGeom>
          <a:solidFill>
            <a:srgbClr val="0D253F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081528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67912" y="29718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126480" y="2880360"/>
            <a:ext cx="2606040" cy="914400"/>
          </a:xfrm>
          <a:prstGeom prst="rect">
            <a:avLst/>
          </a:prstGeom>
          <a:solidFill>
            <a:srgbClr val="0D253F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081528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48272" y="29718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365760" y="3977640"/>
            <a:ext cx="2606040" cy="914400"/>
          </a:xfrm>
          <a:prstGeom prst="rect">
            <a:avLst/>
          </a:prstGeom>
          <a:solidFill>
            <a:srgbClr val="0D253F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178808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87552" y="40690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Query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3246120" y="3977640"/>
            <a:ext cx="2606040" cy="914400"/>
          </a:xfrm>
          <a:prstGeom prst="rect">
            <a:avLst/>
          </a:prstGeom>
          <a:solidFill>
            <a:srgbClr val="0D253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4178808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867912" y="40690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6126480" y="3977640"/>
            <a:ext cx="2606040" cy="914400"/>
          </a:xfrm>
          <a:prstGeom prst="rect">
            <a:avLst/>
          </a:prstGeom>
          <a:solidFill>
            <a:srgbClr val="0D253F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4178808"/>
            <a:ext cx="411480" cy="4114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748272" y="40690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Evaluation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95097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243584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 |  User Mode  |  Developer Mode (7 tabs)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95681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49424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  •  NLP Engine  •  CV Engine  •  LLM Module  •  Preprocessing  •  Evaluation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8046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96265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255264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(Claude)  •  OpenAI (GPT)  •  Ollama (Local LLM)  •  Tesseract (OCR)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764792"/>
            <a:ext cx="54864" cy="1554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34840" y="2779776"/>
            <a:ext cx="54864" cy="1554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3886200"/>
            <a:ext cx="1280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09592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56616" y="436168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728216" y="3886200"/>
            <a:ext cx="1280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696" y="4029688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764792" y="436168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136392" y="3886200"/>
            <a:ext cx="1280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4014616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172968" y="436168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Module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44568" y="3886200"/>
            <a:ext cx="1280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4029688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581144" y="436168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Engine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952744" y="3886200"/>
            <a:ext cx="1280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4019640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989320" y="436168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Engine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7360920" y="3886200"/>
            <a:ext cx="1280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4009592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397496" y="436168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9319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0" y="914400"/>
            <a:ext cx="4251960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PHASE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91440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PHASE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3931920" cy="548640"/>
          </a:xfrm>
          <a:prstGeom prst="rect">
            <a:avLst/>
          </a:prstGeom>
          <a:solidFill>
            <a:srgbClr val="EBF5FB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70280" y="1490472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0280" y="1490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144475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(JSON/CSV/TXT/PDF/IMG)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1929384"/>
            <a:ext cx="54864" cy="1280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066544"/>
            <a:ext cx="3931920" cy="548640"/>
          </a:xfrm>
          <a:prstGeom prst="rect">
            <a:avLst/>
          </a:prstGeom>
          <a:solidFill>
            <a:srgbClr val="D6EAF8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80328" y="2185416"/>
            <a:ext cx="320040" cy="3200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0328" y="21854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13969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Clean Documents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03120" y="2624328"/>
            <a:ext cx="54864" cy="1280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761488"/>
            <a:ext cx="3931920" cy="548640"/>
          </a:xfrm>
          <a:prstGeom prst="rect">
            <a:avLst/>
          </a:prstGeom>
          <a:solidFill>
            <a:srgbClr val="EBF5FB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5304" y="2880360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5304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283464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Text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(256 words, 32 overlap)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03120" y="3319272"/>
            <a:ext cx="54864" cy="1280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3456432"/>
            <a:ext cx="3931920" cy="548640"/>
          </a:xfrm>
          <a:prstGeom prst="rect">
            <a:avLst/>
          </a:prstGeom>
          <a:solidFill>
            <a:srgbClr val="D6EAF8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70280" y="3575304"/>
            <a:ext cx="320040" cy="3200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0280" y="3575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" y="352958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(MiniLM-L6-v2)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03120" y="4014216"/>
            <a:ext cx="54864" cy="1280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4151376"/>
            <a:ext cx="3931920" cy="548640"/>
          </a:xfrm>
          <a:prstGeom prst="rect">
            <a:avLst/>
          </a:prstGeom>
          <a:solidFill>
            <a:srgbClr val="EBF5FB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70280" y="4270248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0280" y="42702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422452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HNSW + BM25 Index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1371600"/>
            <a:ext cx="4251960" cy="475488"/>
          </a:xfrm>
          <a:prstGeom prst="rect">
            <a:avLst/>
          </a:prstGeom>
          <a:solidFill>
            <a:srgbClr val="E8F8F5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22240" y="1463040"/>
            <a:ext cx="301752" cy="30175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22240" y="146304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0" y="1426464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1847088"/>
            <a:ext cx="54864" cy="914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0" y="1947672"/>
            <a:ext cx="4251960" cy="475488"/>
          </a:xfrm>
          <a:prstGeom prst="rect">
            <a:avLst/>
          </a:prstGeom>
          <a:solidFill>
            <a:srgbClr val="D1F2EB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622240" y="2039112"/>
            <a:ext cx="301752" cy="3017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22240" y="2039112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0" y="2002536"/>
            <a:ext cx="4133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Analysis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(intent • sentiment • NER)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2423160"/>
            <a:ext cx="54864" cy="914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0" y="2523744"/>
            <a:ext cx="4251960" cy="475488"/>
          </a:xfrm>
          <a:prstGeom prst="rect">
            <a:avLst/>
          </a:prstGeom>
          <a:solidFill>
            <a:srgbClr val="E8F8F5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622240" y="2615184"/>
            <a:ext cx="301752" cy="30175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22240" y="261518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0" y="2578608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Sparse Retrieval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92240" y="2999232"/>
            <a:ext cx="54864" cy="914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72000" y="3099816"/>
            <a:ext cx="4251960" cy="475488"/>
          </a:xfrm>
          <a:prstGeom prst="rect">
            <a:avLst/>
          </a:prstGeom>
          <a:solidFill>
            <a:srgbClr val="D1F2EB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4622240" y="3191256"/>
            <a:ext cx="301752" cy="3017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622240" y="319125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0" y="3154680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 → Reranking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92240" y="3575304"/>
            <a:ext cx="54864" cy="914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572000" y="3675888"/>
            <a:ext cx="4251960" cy="475488"/>
          </a:xfrm>
          <a:prstGeom prst="rect">
            <a:avLst/>
          </a:prstGeom>
          <a:solidFill>
            <a:srgbClr val="E8F8F5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622240" y="3767328"/>
            <a:ext cx="301752" cy="30175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622240" y="37673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0" y="3730752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(Claude/GPT/Ollama)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492240" y="4151376"/>
            <a:ext cx="54864" cy="914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572000" y="4251960"/>
            <a:ext cx="4251960" cy="475488"/>
          </a:xfrm>
          <a:prstGeom prst="rect">
            <a:avLst/>
          </a:prstGeom>
          <a:solidFill>
            <a:srgbClr val="D1F2EB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4622240" y="4343400"/>
            <a:ext cx="301752" cy="3017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622240" y="43434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572000" y="4306824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Preprocessing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329184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8869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10642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(recursive flatten, depth≤5), CSV, TXT, MD. Images/PDFs routed to OCR pipeline.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" y="1207008"/>
            <a:ext cx="27432" cy="45720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673352"/>
            <a:ext cx="329184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6733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191109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NFKC normalization → lowercase → punctuation strip → stopword removal (optional).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011680"/>
            <a:ext cx="27432" cy="45720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478024"/>
            <a:ext cx="329184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4780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" y="24963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271576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en_core_web_sm reduces tokens to base forms for consistent retrieval.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" y="2816352"/>
            <a:ext cx="27432" cy="45720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282696"/>
            <a:ext cx="329184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282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33009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Chunks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35204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256 words / chunk, 32-word overlap. Min chunk = 8 words to discard noise.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" y="3621024"/>
            <a:ext cx="27432" cy="45720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4087368"/>
            <a:ext cx="329184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4087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41056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" y="432511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hash per chunk; identical chunks discarded before indexing — keeps index clean.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896112"/>
            <a:ext cx="39776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0" y="9601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PreprocessConfig Defaults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92040" y="1353312"/>
            <a:ext cx="3749040" cy="393192"/>
          </a:xfrm>
          <a:prstGeom prst="rect">
            <a:avLst/>
          </a:prstGeom>
          <a:solidFill>
            <a:srgbClr val="1565C0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82952" y="1408176"/>
            <a:ext cx="1234440" cy="2834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26480" y="1408176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03720" y="1408176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92040" y="1773936"/>
            <a:ext cx="37490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82952" y="1828800"/>
            <a:ext cx="1234440" cy="2834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26480" y="182880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03720" y="1828800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per chunk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92040" y="2194560"/>
            <a:ext cx="3749040" cy="393192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82952" y="2249424"/>
            <a:ext cx="1234440" cy="2834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chunk_overlap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26480" y="224942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03720" y="2249424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continuity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92040" y="2615184"/>
            <a:ext cx="37490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82952" y="2670048"/>
            <a:ext cx="1234440" cy="2834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min_chunk_words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26480" y="2670048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903720" y="2670048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filter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92040" y="3035808"/>
            <a:ext cx="3749040" cy="393192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82952" y="3090672"/>
            <a:ext cx="1234440" cy="2834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26480" y="3090672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03720" y="3090672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normalization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92040" y="3456432"/>
            <a:ext cx="37490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82952" y="3511296"/>
            <a:ext cx="1234440" cy="2834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126480" y="3511296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903720" y="3511296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base forms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92040" y="3877056"/>
            <a:ext cx="3749040" cy="393192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082952" y="3931920"/>
            <a:ext cx="1234440" cy="2834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126480" y="393192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903720" y="3931920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deduplication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92040" y="4297680"/>
            <a:ext cx="37490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082952" y="4352544"/>
            <a:ext cx="1234440" cy="2834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remove_stopwords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126480" y="435254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903720" y="4352544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(BM25↑)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566160" y="896112"/>
            <a:ext cx="201168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566160" y="8961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44568" y="1389888"/>
            <a:ext cx="54864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20240" y="1664208"/>
            <a:ext cx="530352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92808" y="1664208"/>
            <a:ext cx="54864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96328" y="1664208"/>
            <a:ext cx="54864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301752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03810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</a:t>
            </a:r>
            <a:endParaRPr lang="en-US" sz="1200" u="sng" dirty="0"/>
          </a:p>
        </p:txBody>
      </p:sp>
      <p:sp>
        <p:nvSpPr>
          <p:cNvPr id="13" name="Text 11"/>
          <p:cNvSpPr/>
          <p:nvPr/>
        </p:nvSpPr>
        <p:spPr>
          <a:xfrm>
            <a:off x="438912" y="2286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
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384-dimensional embeddings
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HNSW (M=32, ef=200)
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top_k_dense = 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06440" y="1901952"/>
            <a:ext cx="3017520" cy="1463040"/>
          </a:xfrm>
          <a:prstGeom prst="rect">
            <a:avLst/>
          </a:prstGeom>
          <a:solidFill>
            <a:srgbClr val="E0F7FA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97880" y="2063225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Retrieval (BM25)</a:t>
            </a:r>
            <a:endParaRPr lang="en-US" sz="1200" u="sng" dirty="0"/>
          </a:p>
        </p:txBody>
      </p:sp>
      <p:sp>
        <p:nvSpPr>
          <p:cNvPr id="16" name="Text 14"/>
          <p:cNvSpPr/>
          <p:nvPr/>
        </p:nvSpPr>
        <p:spPr>
          <a:xfrm>
            <a:off x="5925312" y="2286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Okapi BM25
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× IDF with length norm
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k1=1.5, b=0.75
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top_k_bm25 = 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709928" y="3374136"/>
            <a:ext cx="54864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7768" y="3374136"/>
            <a:ext cx="54864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737360" y="3621024"/>
            <a:ext cx="566928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44568" y="3621024"/>
            <a:ext cx="54864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08960" y="3858768"/>
            <a:ext cx="2926080" cy="7315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08960" y="38587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(k=60)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08960" y="422452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RRF(d) = Σ 1 / (60 + rankᵢ(d))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8229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(Merged Candidates)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307592"/>
            <a:ext cx="41148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154680" y="960120"/>
            <a:ext cx="265176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54680" y="960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1307592"/>
            <a:ext cx="41148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89320" y="960120"/>
            <a:ext cx="2651760" cy="8229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89320" y="960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Top-K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(top_k_final = 5)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011680"/>
            <a:ext cx="4206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011680"/>
            <a:ext cx="64008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" y="210312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24231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cross-encoder/ms-marco-MiniLM-L-6-v2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encodes query + document pairs for superior relevance scoring.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011680"/>
            <a:ext cx="4206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011680"/>
            <a:ext cx="64008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9472" y="210312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Cross-Encoder?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24231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Bi-encoders compute embeddings independently — fast but less precise.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Cross-encoders attend to both simultaneously — slower but far more accurate.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429000"/>
            <a:ext cx="4206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429000"/>
            <a:ext cx="64008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" y="352044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Fusion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38404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RetrievalResult stores dense_rank, sparse_rank, and rerank_score.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ordering uses rerank_score when enabled; RRF score otherwise.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429000"/>
            <a:ext cx="4206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3429000"/>
            <a:ext cx="64008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9472" y="352044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Note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38404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Lazy-loaded: model only instantiated when reranker is enabled and a query arrives.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RRF ranking used directly when reranker is disabled.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Priority Chain (auto mode)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27048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25880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Anthropic (Claude)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16276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claude-haiku-4-5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60120" y="1856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ANTHROPIC_API_KEY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123444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527048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325880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OpenAI (GPT)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394960" y="16276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gpt-4o-mini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394960" y="1856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OPENAI_API_KEY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20040" y="242316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15768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2514600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Ollama (Local LLM)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960120" y="28163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llama3.1:8b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960120" y="3044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localhost:11434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754880" y="242316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715768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2514600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Extractive Fallback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394960" y="28163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No API key needed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5394960" y="3044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20040" y="3639312"/>
            <a:ext cx="85039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Strategy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4005072"/>
            <a:ext cx="8138160" cy="68580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594360" y="404164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precise, helpful assistant. Use ONLY the provided context to answer.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Cite sources inline using bracket notation [1], [2]. If context doesn't contain the answer, say so plainly."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042416"/>
            <a:ext cx="694944" cy="6949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21615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051560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85623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 + Logistic Regression classifier.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Intents: definition, compare, summarize, calculate.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intent + confidence score.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01768" y="1042416"/>
            <a:ext cx="694944" cy="694944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4" y="121615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52160" y="1051560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92040" y="185623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(Valence Aware Dictionary) — lexicon-based.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positive, negative, neutral.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adapt response tone and flag frustrated users.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" y="292608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66928" y="3054096"/>
            <a:ext cx="694944" cy="69494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22783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063240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386791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en_core_web_sm NER pipeline.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Extracts: PERSON, ORG, GPE, DATE, PRODUCT...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regex-based patterns when spaCy unavailable.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754880" y="292608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001768" y="3054096"/>
            <a:ext cx="694944" cy="694944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504" y="322783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52160" y="3063240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Extraction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892040" y="386791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TF-IDF-based extraction on per-query basis.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keywords (default k=5) surfaced in Developer Mode.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enrich retrieval context signals.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Multimodal Support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5544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(Image/PDF)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01952" y="1234440"/>
            <a:ext cx="12801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57400" y="914400"/>
            <a:ext cx="1554480" cy="7132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57400" y="91440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39312" y="1234440"/>
            <a:ext cx="12801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94760" y="914400"/>
            <a:ext cx="15544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94760" y="91440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Engine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76672" y="1234440"/>
            <a:ext cx="12801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532120" y="914400"/>
            <a:ext cx="1554480" cy="7132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32120" y="91440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14032" y="1234440"/>
            <a:ext cx="12801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69480" y="914400"/>
            <a:ext cx="1554480" cy="7132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69480" y="91440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Indexing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82880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1828800"/>
            <a:ext cx="42062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" y="193852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Conversion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2231136"/>
            <a:ext cx="3986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complexity; essential for thresholding accuracy.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82880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1828800"/>
            <a:ext cx="42062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64608" y="193852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4608" y="2231136"/>
            <a:ext cx="3986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fastNlMeansDenoising removes salt-and-pepper noise from scans.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999232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2999232"/>
            <a:ext cx="42062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9768" y="310896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" y="3401568"/>
            <a:ext cx="3986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uneven illumination better than global threshold.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999232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54880" y="2999232"/>
            <a:ext cx="42062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64608" y="310896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Deskewing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3401568"/>
            <a:ext cx="3986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skew angle via Hough transform; rotates image to align text.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187952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224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Formats: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286000" y="4242816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 •  JPG / JPEG  •  TIF / TIFF  •  BMP  •  PDF  |  Min confidence: 30%  |  PDF DPI: 300  |  Language: eng (configurable)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Indexing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784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HNSW Index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44168"/>
            <a:ext cx="3840480" cy="256032"/>
          </a:xfrm>
          <a:prstGeom prst="rect">
            <a:avLst/>
          </a:prstGeom>
          <a:solidFill>
            <a:srgbClr val="EBF5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IndexHNSWFlat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3716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618488"/>
            <a:ext cx="38404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6459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32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16459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neighbors per node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1892808"/>
            <a:ext cx="3840480" cy="256032"/>
          </a:xfrm>
          <a:prstGeom prst="rect">
            <a:avLst/>
          </a:prstGeom>
          <a:solidFill>
            <a:srgbClr val="EBF5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efConstruction = 200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quality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167128"/>
            <a:ext cx="38404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194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dims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2194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dimensions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441448"/>
            <a:ext cx="3840480" cy="256032"/>
          </a:xfrm>
          <a:prstGeom prst="rect">
            <a:avLst/>
          </a:prstGeom>
          <a:solidFill>
            <a:srgbClr val="EBF5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468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~1ms/query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2468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search speed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914400"/>
            <a:ext cx="42519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9784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Index (Okapi)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344168"/>
            <a:ext cx="4069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13716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Okapi BM25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1371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model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618488"/>
            <a:ext cx="40690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16459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= 1.5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16459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frequency saturation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1892808"/>
            <a:ext cx="4069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0.75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29400" y="19202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normalization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167128"/>
            <a:ext cx="40690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2194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rank-bm25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9400" y="21945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2441448"/>
            <a:ext cx="4069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0" y="2468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9400" y="24688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Partial keyword hit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017520"/>
            <a:ext cx="85039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3081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Format  (indexes/&lt;name&gt;/)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3410712"/>
            <a:ext cx="192024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34472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faiss.index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3648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FAISS HNSW index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560320" y="3410712"/>
            <a:ext cx="192024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560320" y="34472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bm25.pkl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560320" y="3648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Pickled BM25 object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63440" y="3410712"/>
            <a:ext cx="192024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663440" y="34472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chunks.json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663440" y="3648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Chunk list with raw_text, source, metadata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766560" y="3410712"/>
            <a:ext cx="192024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766560" y="34472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config.json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766560" y="3648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RAGConfig + creation timestamp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0040" y="4114800"/>
            <a:ext cx="8503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7200" y="4178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Chain: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920240" y="417880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HNSW → NumPy cosine similarity  |  sentence-transformers → BLAKE2b hashing (384-dim)  |  BM25 → disabled gracefully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3776" y="1060704"/>
            <a:ext cx="658368" cy="65836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22529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768" y="183794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768" y="2157984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Sentence-transformer, cross-encoder, spaCy, and intent classifier all load only on first use. Zero startup cost for unused features.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46120" y="91440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19856" y="1060704"/>
            <a:ext cx="658368" cy="6583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22529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55848" y="183794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55848" y="2157984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active index stays in RAM. Session state scoped per user. Rolling log buffer capped at 500 entries.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72200" y="91440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345936" y="1060704"/>
            <a:ext cx="658368" cy="65836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22529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81928" y="183794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Caching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81928" y="2157984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@st.cache_resource persists RAG, NLP, and CV engines across reruns. Avoids repeated model reloads on UI interaction.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20040" y="288036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93776" y="3026664"/>
            <a:ext cx="658368" cy="65836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19125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29768" y="380390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29768" y="4123944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5-tier fallback chain (embeddings → hashing, FAISS → NumPy, LLM → extractive). System never fully fails regardless of dependencies.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246120" y="288036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419856" y="3026664"/>
            <a:ext cx="658368" cy="6583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3191256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355848" y="380390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Approx. Search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355848" y="4123944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M=32 graph structure gives O(log n) approximate nearest-neighbor search vs O(n) flat search. Scales to millions of chunks.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172200" y="288036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345936" y="3026664"/>
            <a:ext cx="658368" cy="65836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528" y="3191256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81928" y="380390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Pre-tokenization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281928" y="4123944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corpus tokenized once at index time. Query time only tokenizes the query itself — O(|vocab|) scoring.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Metrics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432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Metrics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" y="1490472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0664" y="141732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2112264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0664" y="2039112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" y="2734056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0664" y="2660904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(Mean Reciprocal Rank)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3355848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0664" y="3282696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46120" y="914400"/>
            <a:ext cx="2743200" cy="38404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46120" y="914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Metrics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10712" y="1490472"/>
            <a:ext cx="182880" cy="18288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66744" y="141732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 F1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10712" y="2112264"/>
            <a:ext cx="182880" cy="18288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66744" y="2039112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10712" y="2734056"/>
            <a:ext cx="182880" cy="18288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66744" y="2660904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(cosine)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10712" y="3355848"/>
            <a:ext cx="182880" cy="18288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66744" y="3282696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 F1 (optional)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72200" y="914400"/>
            <a:ext cx="2743200" cy="38404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72200" y="914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Metrics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36792" y="1490472"/>
            <a:ext cx="182880" cy="1828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92824" y="141732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faithfulness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(token overlap)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36792" y="2112264"/>
            <a:ext cx="182880" cy="1828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92824" y="2039112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faithfulness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 cos. similarity)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224528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4251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EvalReport aggregates per-query results into mean scores for latency_ms, precision, recall, mrr, ndcg, rouge_l, bleu_4, sem_sim, and faithfulness — exportable via Developer Mode.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Use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2519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25196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17904"/>
            <a:ext cx="13716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chat interface — no technical knowledge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956816"/>
            <a:ext cx="13716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18562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query → get answer with cited source chunks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395728"/>
            <a:ext cx="13716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2951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source visibility to inspect evidence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13716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7340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 with history context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914400"/>
            <a:ext cx="42519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914400"/>
            <a:ext cx="425196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91440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Mode (7 Tabs)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1517904"/>
            <a:ext cx="137160" cy="1371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12080" y="1417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Management: upload, build, switch, delete indexes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83480" y="1956816"/>
            <a:ext cx="137160" cy="1371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0" y="18562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 tune chunking, retrieval, LLM, OCR params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3480" y="2395728"/>
            <a:ext cx="137160" cy="1371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0" y="22951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Lab: inspect NLP analysis + retrieval breakdown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83480" y="2834640"/>
            <a:ext cx="137160" cy="1371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12080" y="27340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run benchmarks and compare metrics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83480" y="3273552"/>
            <a:ext cx="137160" cy="1371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12080" y="31729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Logs: rolling 500-entry debug log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83480" y="3712464"/>
            <a:ext cx="137160" cy="1371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12080" y="36118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Preview: browse raw chunks in active index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83480" y="4151376"/>
            <a:ext cx="137160" cy="1371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12080" y="40507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About: system info and dependency status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Tradeoffs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29844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05840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vs. Accuracy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1335024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 improves quality significantly but adds ~200–500 ms per query. Configurable on/off per use-case.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29844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005840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vs. Index Size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40680" y="1335024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chunk vectors and BM25 corpus kept in RAM for fast queries. Large datasets (&gt;100k chunks) require memory-mapped FAISS.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0040" y="2267712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65176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2359152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Boundary Artifacts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005840" y="2688336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chunking may split mid-sentence. Overlap mitigates this, but optimal chunk size is domain-dependent.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754880" y="2267712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65176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40680" y="2359152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Dependency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40680" y="2688336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LLMs (Claude, GPT) need API keys and internet. Ollama solves privacy/cost but requires local GPU/CPU resources.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20040" y="3621024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400507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05840" y="3712464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Accuracy Limits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1005840" y="4041648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struggles with handwriting, rotated text, and complex layouts. Min confidence threshold (30%) filters low-quality extractions.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754880" y="3621024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4005072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40680" y="3712464"/>
            <a:ext cx="34015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Ground Truth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440680" y="4041648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retrieval evaluation (MRR, NDCG) requires labeled query-document pairs. Without them, only generation metrics apply.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7432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43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2468880" cy="621792"/>
          </a:xfrm>
          <a:prstGeom prst="rect">
            <a:avLst/>
          </a:prstGeom>
          <a:solidFill>
            <a:srgbClr val="EBF5FB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1790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 (SSE) for real-time output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2468880" cy="621792"/>
          </a:xfrm>
          <a:prstGeom prst="rect">
            <a:avLst/>
          </a:prstGeom>
          <a:solidFill>
            <a:srgbClr val="EBF5FB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2677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(spaCy + Tesseract lang packs)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2468880" cy="621792"/>
          </a:xfrm>
          <a:prstGeom prst="rect">
            <a:avLst/>
          </a:prstGeom>
          <a:solidFill>
            <a:srgbClr val="EBF5FB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native text extraction (PyMuPDF) alongside OCR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730752"/>
            <a:ext cx="2468880" cy="621792"/>
          </a:xfrm>
          <a:prstGeom prst="rect">
            <a:avLst/>
          </a:prstGeom>
          <a:solidFill>
            <a:srgbClr val="EBF5FB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7673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&amp; multi-tenant index isolation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914400"/>
            <a:ext cx="27432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46120" y="914400"/>
            <a:ext cx="2743200" cy="4572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4612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1481328"/>
            <a:ext cx="2468880" cy="621792"/>
          </a:xfrm>
          <a:prstGeom prst="rect">
            <a:avLst/>
          </a:prstGeom>
          <a:solidFill>
            <a:srgbClr val="E0F7FA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0" y="151790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GraphRAG: knowledge graph over extracted entities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2231136"/>
            <a:ext cx="2468880" cy="621792"/>
          </a:xfrm>
          <a:prstGeom prst="rect">
            <a:avLst/>
          </a:prstGeom>
          <a:solidFill>
            <a:srgbClr val="E0F7FA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0" y="22677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chunking based on semantic coherence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83280" y="2980944"/>
            <a:ext cx="2468880" cy="621792"/>
          </a:xfrm>
          <a:prstGeom prst="rect">
            <a:avLst/>
          </a:prstGeom>
          <a:solidFill>
            <a:srgbClr val="E0F7FA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routing: auto-select best LLM per intent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83280" y="3730752"/>
            <a:ext cx="2468880" cy="621792"/>
          </a:xfrm>
          <a:prstGeom prst="rect">
            <a:avLst/>
          </a:prstGeom>
          <a:solidFill>
            <a:srgbClr val="E0F7FA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0" y="37673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quantization for 10× index compression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914400"/>
            <a:ext cx="27432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72200" y="914400"/>
            <a:ext cx="2743200" cy="4572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7220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1481328"/>
            <a:ext cx="2468880" cy="621792"/>
          </a:xfrm>
          <a:prstGeom prst="rect">
            <a:avLst/>
          </a:prstGeom>
          <a:solidFill>
            <a:srgbClr val="D0F0E8"/>
          </a:solidFill>
          <a:ln w="635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0" y="151790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RAG: image + text joint embeddings (CLIP)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09360" y="2231136"/>
            <a:ext cx="2468880" cy="621792"/>
          </a:xfrm>
          <a:prstGeom prst="rect">
            <a:avLst/>
          </a:prstGeom>
          <a:solidFill>
            <a:srgbClr val="D0F0E8"/>
          </a:solidFill>
          <a:ln w="635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0" y="22677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loop for evaluation dataset curation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09360" y="2980944"/>
            <a:ext cx="2468880" cy="621792"/>
          </a:xfrm>
          <a:prstGeom prst="rect">
            <a:avLst/>
          </a:prstGeom>
          <a:solidFill>
            <a:srgbClr val="D0F0E8"/>
          </a:solidFill>
          <a:ln w="635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FAISS (Faiss GPU / Milvus) for billion-scale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3730752"/>
            <a:ext cx="2468880" cy="621792"/>
          </a:xfrm>
          <a:prstGeom prst="rect">
            <a:avLst/>
          </a:prstGeom>
          <a:solidFill>
            <a:srgbClr val="D0F0E8"/>
          </a:solidFill>
          <a:ln w="635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0" y="37673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/ containerized microservice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ChatBoot</a:t>
            </a: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delivers a complete, production-ready RAG system combining best-in-class retrieval, NLP, and generation.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4206240" cy="896112"/>
          </a:xfrm>
          <a:prstGeom prst="rect">
            <a:avLst/>
          </a:prstGeom>
          <a:solidFill>
            <a:srgbClr val="0D253F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196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64592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1975104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preprocessing, retrieval, generation, evaluation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1572768"/>
            <a:ext cx="4206240" cy="896112"/>
          </a:xfrm>
          <a:prstGeom prst="rect">
            <a:avLst/>
          </a:prstGeom>
          <a:solidFill>
            <a:srgbClr val="0D253F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8196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64592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394960" y="1975104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(FAISS HNSW) + Sparse (BM25) + RRF + Cross-encoder reranking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0040" y="2596896"/>
            <a:ext cx="4206240" cy="896112"/>
          </a:xfrm>
          <a:prstGeom prst="rect">
            <a:avLst/>
          </a:prstGeom>
          <a:solidFill>
            <a:srgbClr val="0D253F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43784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2670048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960120" y="2999232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5-tier fallback — system works with zero external dependencies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754880" y="2596896"/>
            <a:ext cx="4206240" cy="896112"/>
          </a:xfrm>
          <a:prstGeom prst="rect">
            <a:avLst/>
          </a:prstGeom>
          <a:solidFill>
            <a:srgbClr val="0D253F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843784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94960" y="2670048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LLM Layer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394960" y="2999232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GPT · Ollama · Extractive — auto-selected with fallback chain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0040" y="3621024"/>
            <a:ext cx="4206240" cy="896112"/>
          </a:xfrm>
          <a:prstGeom prst="rect">
            <a:avLst/>
          </a:prstGeom>
          <a:solidFill>
            <a:srgbClr val="0D253F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67912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0120" y="3694176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NLP Pipeline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960120" y="4023360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· Sentiment · NER · Keywords — all on every query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4754880" y="3621024"/>
            <a:ext cx="4206240" cy="896112"/>
          </a:xfrm>
          <a:prstGeom prst="rect">
            <a:avLst/>
          </a:prstGeom>
          <a:solidFill>
            <a:srgbClr val="0D253F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867912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94960" y="3694176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Evaluation Metrics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394960" y="4023360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generation, faithfulness — all in the Developer Mode tab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86000" y="2084023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2286000" y="2419643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286000" y="2922563"/>
            <a:ext cx="4572000" cy="274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ChatBoot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DEPI Microsoft ML Engineer Final Project  •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2094</Words>
  <Application>Microsoft Office PowerPoint</Application>
  <PresentationFormat>On-screen Show (16:9)</PresentationFormat>
  <Paragraphs>419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ChatBoot RAG – University Graduation Project</dc:title>
  <dc:subject>PptxGenJS Presentation</dc:subject>
  <dc:creator>Graduation Project Team</dc:creator>
  <cp:lastModifiedBy>Mahmoud Mohamed</cp:lastModifiedBy>
  <cp:revision>3</cp:revision>
  <dcterms:created xsi:type="dcterms:W3CDTF">2026-05-21T00:23:47Z</dcterms:created>
  <dcterms:modified xsi:type="dcterms:W3CDTF">2026-05-21T00:49:40Z</dcterms:modified>
</cp:coreProperties>
</file>